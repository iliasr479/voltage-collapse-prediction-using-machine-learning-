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</p:sldMasterIdLst>
  <p:notesMasterIdLst>
    <p:notesMasterId r:id="rId24"/>
  </p:notesMasterIdLst>
  <p:sldIdLst>
    <p:sldId id="314" r:id="rId2"/>
    <p:sldId id="283" r:id="rId3"/>
    <p:sldId id="313" r:id="rId4"/>
    <p:sldId id="305" r:id="rId5"/>
    <p:sldId id="306" r:id="rId6"/>
    <p:sldId id="277" r:id="rId7"/>
    <p:sldId id="284" r:id="rId8"/>
    <p:sldId id="308" r:id="rId9"/>
    <p:sldId id="289" r:id="rId10"/>
    <p:sldId id="312" r:id="rId11"/>
    <p:sldId id="309" r:id="rId12"/>
    <p:sldId id="310" r:id="rId13"/>
    <p:sldId id="307" r:id="rId14"/>
    <p:sldId id="316" r:id="rId15"/>
    <p:sldId id="295" r:id="rId16"/>
    <p:sldId id="300" r:id="rId17"/>
    <p:sldId id="304" r:id="rId18"/>
    <p:sldId id="301" r:id="rId19"/>
    <p:sldId id="297" r:id="rId20"/>
    <p:sldId id="302" r:id="rId21"/>
    <p:sldId id="299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0645" autoAdjust="0"/>
  </p:normalViewPr>
  <p:slideViewPr>
    <p:cSldViewPr snapToGrid="0">
      <p:cViewPr varScale="1">
        <p:scale>
          <a:sx n="77" d="100"/>
          <a:sy n="77" d="100"/>
        </p:scale>
        <p:origin x="150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92A1C-4FF5-4F2C-83B6-690725ECC9F2}" type="datetimeFigureOut">
              <a:rPr lang="en-US" smtClean="0"/>
              <a:pPr/>
              <a:t>25-Feb-24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63CC9-F87F-4C78-9063-0C89A8E51D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4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63CC9-F87F-4C78-9063-0C89A8E51DB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68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63CC9-F87F-4C78-9063-0C89A8E51DB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13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14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35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156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50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139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69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341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808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1900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834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4052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277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1764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97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0997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320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DC6ED-898E-4577-B4DE-396A242CEF64}" type="datetimeFigureOut">
              <a:rPr lang="en-SG" smtClean="0"/>
              <a:pPr/>
              <a:t>25/2/2024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B383DE6-6BF1-403D-B0B4-AA2FC2C7F5D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642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6E1C-94F5-4373-A292-0129548C8177}"/>
              </a:ext>
            </a:extLst>
          </p:cNvPr>
          <p:cNvSpPr txBox="1">
            <a:spLocks/>
          </p:cNvSpPr>
          <p:nvPr/>
        </p:nvSpPr>
        <p:spPr>
          <a:xfrm>
            <a:off x="0" y="1759974"/>
            <a:ext cx="9144000" cy="29201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Collapse Prediction Using Machine Learning </a:t>
            </a:r>
            <a:endParaRPr lang="en-US" sz="7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072C2-7269-3BCE-6D3E-0793124C90EB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4596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F7630-C4A0-B0C3-241D-C525DA0F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71" y="710411"/>
            <a:ext cx="7949906" cy="17574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 EEE-306</a:t>
            </a:r>
          </a:p>
          <a:p>
            <a:pPr marL="0" indent="0">
              <a:buNone/>
            </a:pPr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   : Power System 1 Laboratory</a:t>
            </a:r>
          </a:p>
          <a:p>
            <a:pPr marL="0" indent="0">
              <a:buNone/>
            </a:pPr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          :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B5130-B470-FB05-53D8-A88D73E1A0D8}"/>
              </a:ext>
            </a:extLst>
          </p:cNvPr>
          <p:cNvSpPr txBox="1"/>
          <p:nvPr/>
        </p:nvSpPr>
        <p:spPr>
          <a:xfrm>
            <a:off x="5466065" y="2926574"/>
            <a:ext cx="34179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l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</a:t>
            </a:r>
          </a:p>
          <a:p>
            <a:pPr algn="l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ID:2006066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2006067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2006068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2006069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2006070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2006071 </a:t>
            </a:r>
          </a:p>
          <a:p>
            <a:pPr algn="l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81064-1952-F388-5C59-357C6CB0FCE2}"/>
              </a:ext>
            </a:extLst>
          </p:cNvPr>
          <p:cNvSpPr txBox="1"/>
          <p:nvPr/>
        </p:nvSpPr>
        <p:spPr>
          <a:xfrm>
            <a:off x="260030" y="2947958"/>
            <a:ext cx="48429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Md. Nasim Ahmed Dewan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Professor, EEE, BUET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Fatin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Ishraq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Faruqui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Lecturer (PT), EEE, BUET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2706C-DAEE-5F29-416C-7E4886D66155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5105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BEC4D-8E17-C33C-0D9E-9E1868BB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F29B-833F-7FFF-8ABC-2175FB49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" y="315025"/>
            <a:ext cx="9144000" cy="773562"/>
          </a:xfrm>
        </p:spPr>
        <p:txBody>
          <a:bodyPr>
            <a:normAutofit/>
          </a:bodyPr>
          <a:lstStyle/>
          <a:p>
            <a:pPr algn="ctr"/>
            <a:r>
              <a:rPr lang="en-SG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CF074-1938-BB3D-DC9F-FDFD4CD7816B}"/>
              </a:ext>
            </a:extLst>
          </p:cNvPr>
          <p:cNvSpPr txBox="1"/>
          <p:nvPr/>
        </p:nvSpPr>
        <p:spPr>
          <a:xfrm>
            <a:off x="805070" y="1550703"/>
            <a:ext cx="405605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NLSI_1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Pipeline 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14 BUS System</a:t>
            </a:r>
          </a:p>
          <a:p>
            <a:pPr marL="257175" indent="-257175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36D2F-77CA-37CD-D227-8C05A04CB69F}"/>
              </a:ext>
            </a:extLst>
          </p:cNvPr>
          <p:cNvSpPr txBox="1"/>
          <p:nvPr/>
        </p:nvSpPr>
        <p:spPr>
          <a:xfrm>
            <a:off x="4572000" y="1550703"/>
            <a:ext cx="429134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Prospect​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References​</a:t>
            </a:r>
          </a:p>
          <a:p>
            <a:pPr marL="257175" indent="-257175">
              <a:buFont typeface="+mj-lt"/>
              <a:buAutoNum type="arabicPeriod" startAt="8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4BDC1-042F-C60B-C27F-FAE902E90F0D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1021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97414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SG" b="1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0ADE4-D853-7534-4C40-6F167248C658}"/>
              </a:ext>
            </a:extLst>
          </p:cNvPr>
          <p:cNvSpPr txBox="1">
            <a:spLocks/>
          </p:cNvSpPr>
          <p:nvPr/>
        </p:nvSpPr>
        <p:spPr>
          <a:xfrm>
            <a:off x="477416" y="3517640"/>
            <a:ext cx="8276950" cy="4688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/>
                <a:cs typeface="Times New Roman"/>
              </a:rPr>
              <a:t>Creating a Dataset.</a:t>
            </a:r>
          </a:p>
          <a:p>
            <a:pPr marL="0" indent="0">
              <a:buNone/>
            </a:pPr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31238F-E7CA-F3D1-63BE-8BD282E1B831}"/>
              </a:ext>
            </a:extLst>
          </p:cNvPr>
          <p:cNvSpPr txBox="1">
            <a:spLocks/>
          </p:cNvSpPr>
          <p:nvPr/>
        </p:nvSpPr>
        <p:spPr>
          <a:xfrm>
            <a:off x="477416" y="1541967"/>
            <a:ext cx="8276950" cy="4688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/>
                <a:cs typeface="Times New Roman"/>
              </a:rPr>
              <a:t>Voltage collapse poses a critical challenge to power grid stability.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C5E268-C4CE-FFD7-8E0E-BF938F49670E}"/>
              </a:ext>
            </a:extLst>
          </p:cNvPr>
          <p:cNvSpPr txBox="1">
            <a:spLocks/>
          </p:cNvSpPr>
          <p:nvPr/>
        </p:nvSpPr>
        <p:spPr>
          <a:xfrm>
            <a:off x="609599" y="2511383"/>
            <a:ext cx="8276950" cy="1006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CFB9FC8-A41F-4720-989B-A479C9BEED02}"/>
              </a:ext>
            </a:extLst>
          </p:cNvPr>
          <p:cNvSpPr txBox="1">
            <a:spLocks/>
          </p:cNvSpPr>
          <p:nvPr/>
        </p:nvSpPr>
        <p:spPr>
          <a:xfrm>
            <a:off x="477416" y="2454182"/>
            <a:ext cx="8276950" cy="7689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/>
                <a:cs typeface="Times New Roman"/>
              </a:rPr>
              <a:t>Developing a </a:t>
            </a:r>
            <a:r>
              <a:rPr lang="en-US" sz="2400" dirty="0">
                <a:solidFill>
                  <a:srgbClr val="374151"/>
                </a:solidFill>
                <a:latin typeface="Times New Roman"/>
                <a:cs typeface="Times New Roman"/>
              </a:rPr>
              <a:t>robust and reliable </a:t>
            </a:r>
            <a:r>
              <a:rPr lang="en-US" sz="2400" dirty="0">
                <a:latin typeface="Times New Roman"/>
                <a:cs typeface="Times New Roman"/>
              </a:rPr>
              <a:t>machine-learning model for early voltage collapse prediction.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5398106-15B8-198D-A747-569A8B3411F1}"/>
              </a:ext>
            </a:extLst>
          </p:cNvPr>
          <p:cNvSpPr txBox="1">
            <a:spLocks/>
          </p:cNvSpPr>
          <p:nvPr/>
        </p:nvSpPr>
        <p:spPr>
          <a:xfrm>
            <a:off x="468791" y="4172561"/>
            <a:ext cx="8276950" cy="8447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/>
                <a:cs typeface="Times New Roman"/>
              </a:rPr>
              <a:t>By anticipating voltage collapse, we contribute to the resilience and efficiency of the power grid infrastructure.</a:t>
            </a:r>
            <a:endParaRPr lang="en-US" sz="2400" dirty="0">
              <a:solidFill>
                <a:srgbClr val="374151"/>
              </a:solidFill>
              <a:latin typeface="Times New Roman"/>
              <a:cs typeface="Times New Roman"/>
            </a:endParaRP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18F468-E4F1-E4EF-8762-2ED6ED05C102}"/>
              </a:ext>
            </a:extLst>
          </p:cNvPr>
          <p:cNvSpPr txBox="1">
            <a:spLocks/>
          </p:cNvSpPr>
          <p:nvPr/>
        </p:nvSpPr>
        <p:spPr>
          <a:xfrm>
            <a:off x="477416" y="4320579"/>
            <a:ext cx="8276950" cy="4688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1FB71-2453-BA30-D33A-3265EFD3EA14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0472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9050693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3CAC67-97D1-0BAC-30CF-CCDD9534B9B7}"/>
              </a:ext>
            </a:extLst>
          </p:cNvPr>
          <p:cNvSpPr txBox="1">
            <a:spLocks/>
          </p:cNvSpPr>
          <p:nvPr/>
        </p:nvSpPr>
        <p:spPr>
          <a:xfrm>
            <a:off x="499295" y="1413754"/>
            <a:ext cx="8276950" cy="468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74151"/>
                </a:solidFill>
                <a:latin typeface="Times New Roman"/>
                <a:cs typeface="Times New Roman"/>
              </a:rPr>
              <a:t>Challenges in Power System Management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CA3FE0-A1C1-91FB-4D87-17117FC914E2}"/>
              </a:ext>
            </a:extLst>
          </p:cNvPr>
          <p:cNvSpPr txBox="1">
            <a:spLocks/>
          </p:cNvSpPr>
          <p:nvPr/>
        </p:nvSpPr>
        <p:spPr>
          <a:xfrm>
            <a:off x="499295" y="1887150"/>
            <a:ext cx="8276950" cy="468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74151"/>
                </a:solidFill>
                <a:latin typeface="Times New Roman"/>
                <a:cs typeface="Times New Roman"/>
              </a:rPr>
              <a:t>Risk of Voltage Collapse</a:t>
            </a:r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CB2259-CA81-1CC6-FBE0-7288C27E619B}"/>
              </a:ext>
            </a:extLst>
          </p:cNvPr>
          <p:cNvSpPr txBox="1">
            <a:spLocks/>
          </p:cNvSpPr>
          <p:nvPr/>
        </p:nvSpPr>
        <p:spPr>
          <a:xfrm>
            <a:off x="482043" y="2433172"/>
            <a:ext cx="8276950" cy="468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74151"/>
                </a:solidFill>
                <a:latin typeface="Times New Roman"/>
                <a:cs typeface="Times New Roman"/>
              </a:rPr>
              <a:t>Need for Monitoring and Early Warning</a:t>
            </a:r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6D503B-02DA-0EB0-650D-EE1E1230B5AA}"/>
              </a:ext>
            </a:extLst>
          </p:cNvPr>
          <p:cNvSpPr txBox="1">
            <a:spLocks/>
          </p:cNvSpPr>
          <p:nvPr/>
        </p:nvSpPr>
        <p:spPr>
          <a:xfrm>
            <a:off x="499295" y="3614593"/>
            <a:ext cx="8276950" cy="468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74151"/>
                </a:solidFill>
                <a:latin typeface="Times New Roman"/>
                <a:cs typeface="Times New Roman"/>
              </a:rPr>
              <a:t>Efficient Prediction Models</a:t>
            </a:r>
            <a:endParaRPr lang="en-US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0CD67C-445D-A0A2-9A0A-A8EE85A616CF}"/>
              </a:ext>
            </a:extLst>
          </p:cNvPr>
          <p:cNvSpPr txBox="1">
            <a:spLocks/>
          </p:cNvSpPr>
          <p:nvPr/>
        </p:nvSpPr>
        <p:spPr>
          <a:xfrm>
            <a:off x="433525" y="3013670"/>
            <a:ext cx="8276950" cy="468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74151"/>
                </a:solidFill>
                <a:latin typeface="Times New Roman"/>
                <a:cs typeface="Times New Roman"/>
              </a:rPr>
              <a:t> Shift Towards Machine Learning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2C083-7C22-D0D1-A4F6-2A2EE3F4FCDD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1239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1E937-EA24-9A19-A56F-576480095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6" y="509993"/>
            <a:ext cx="7007289" cy="65277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SG" sz="3200" b="1" kern="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 Line Stability Index (NLSI_1)</a:t>
            </a:r>
            <a:endParaRPr lang="en-SG" sz="3200" kern="1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SG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CED0F7-637B-DA73-D964-9531CA9A7CA2}"/>
              </a:ext>
            </a:extLst>
          </p:cNvPr>
          <p:cNvSpPr txBox="1">
            <a:spLocks/>
          </p:cNvSpPr>
          <p:nvPr/>
        </p:nvSpPr>
        <p:spPr>
          <a:xfrm>
            <a:off x="433525" y="1423572"/>
            <a:ext cx="8276950" cy="512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stability indicator </a:t>
            </a:r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14ABEE-8766-379E-8233-3124FA0DFB97}"/>
              </a:ext>
            </a:extLst>
          </p:cNvPr>
          <p:cNvSpPr txBox="1">
            <a:spLocks/>
          </p:cNvSpPr>
          <p:nvPr/>
        </p:nvSpPr>
        <p:spPr>
          <a:xfrm>
            <a:off x="433525" y="1936102"/>
            <a:ext cx="8276950" cy="512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NLSI_1 values range 0 to 1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9F85D6-5349-DDAE-0183-EB3C973612C4}"/>
              </a:ext>
            </a:extLst>
          </p:cNvPr>
          <p:cNvSpPr txBox="1">
            <a:spLocks/>
          </p:cNvSpPr>
          <p:nvPr/>
        </p:nvSpPr>
        <p:spPr>
          <a:xfrm rot="10800000" flipV="1">
            <a:off x="433525" y="5040218"/>
            <a:ext cx="7672824" cy="788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NLSI_1 value</a:t>
            </a: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741894-5D48-A001-7DCD-9D2AF4356214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06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795" y="2969537"/>
            <a:ext cx="5585765" cy="841972"/>
          </a:xfrm>
          <a:prstGeom prst="rect">
            <a:avLst/>
          </a:prstGeom>
          <a:noFill/>
        </p:spPr>
      </p:pic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33926" y="3005750"/>
            <a:ext cx="2237904" cy="682028"/>
          </a:xfrm>
          <a:prstGeom prst="rect">
            <a:avLst/>
          </a:prstGeom>
          <a:noFill/>
        </p:spPr>
      </p:pic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441" name="Picture 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53481" y="4934139"/>
            <a:ext cx="2009775" cy="657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846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4B66-ED67-BF36-AACA-4C7A4104335D}"/>
              </a:ext>
            </a:extLst>
          </p:cNvPr>
          <p:cNvSpPr txBox="1">
            <a:spLocks/>
          </p:cNvSpPr>
          <p:nvPr/>
        </p:nvSpPr>
        <p:spPr>
          <a:xfrm>
            <a:off x="1" y="224160"/>
            <a:ext cx="9144000" cy="62143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SG" b="1" spc="127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Block</a:t>
            </a:r>
            <a:r>
              <a:rPr lang="en-SG" b="1" spc="608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b="1" spc="68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SG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D0DD0732-278E-BE97-D4EC-ABD038443A8E}"/>
              </a:ext>
            </a:extLst>
          </p:cNvPr>
          <p:cNvSpPr/>
          <p:nvPr/>
        </p:nvSpPr>
        <p:spPr>
          <a:xfrm>
            <a:off x="1366684" y="1535326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Generation of training and testing data [ PSAF]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30637F-2C7B-9D9C-11E0-CF8905DB9B51}"/>
              </a:ext>
            </a:extLst>
          </p:cNvPr>
          <p:cNvCxnSpPr>
            <a:cxnSpLocks/>
          </p:cNvCxnSpPr>
          <p:nvPr/>
        </p:nvCxnSpPr>
        <p:spPr>
          <a:xfrm>
            <a:off x="4572000" y="2238257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50F5BAA3-AFF9-F4FE-1F00-39E88F5C3542}"/>
              </a:ext>
            </a:extLst>
          </p:cNvPr>
          <p:cNvSpPr/>
          <p:nvPr/>
        </p:nvSpPr>
        <p:spPr>
          <a:xfrm>
            <a:off x="1366684" y="2611088"/>
            <a:ext cx="6410632" cy="4957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Data pre-processing</a:t>
            </a:r>
            <a:endParaRPr lang="en-US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A7C79B-94AF-AFB7-805D-CB3530FAE144}"/>
              </a:ext>
            </a:extLst>
          </p:cNvPr>
          <p:cNvCxnSpPr>
            <a:cxnSpLocks/>
          </p:cNvCxnSpPr>
          <p:nvPr/>
        </p:nvCxnSpPr>
        <p:spPr>
          <a:xfrm flipH="1">
            <a:off x="4568286" y="3138147"/>
            <a:ext cx="3713" cy="4146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AE54B373-EC10-65AF-C6E6-7D49A38A8B24}"/>
              </a:ext>
            </a:extLst>
          </p:cNvPr>
          <p:cNvSpPr/>
          <p:nvPr/>
        </p:nvSpPr>
        <p:spPr>
          <a:xfrm>
            <a:off x="1366684" y="3577949"/>
            <a:ext cx="6410632" cy="50068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Finding best ML model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FF0A0BBA-15B0-A921-C6D4-174E85DBB71D}"/>
              </a:ext>
            </a:extLst>
          </p:cNvPr>
          <p:cNvSpPr/>
          <p:nvPr/>
        </p:nvSpPr>
        <p:spPr>
          <a:xfrm>
            <a:off x="1366684" y="4544719"/>
            <a:ext cx="6410632" cy="46608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prediction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6B0C67-C4F3-2CB4-B84D-53FAEA1D1C97}"/>
              </a:ext>
            </a:extLst>
          </p:cNvPr>
          <p:cNvCxnSpPr>
            <a:cxnSpLocks/>
          </p:cNvCxnSpPr>
          <p:nvPr/>
        </p:nvCxnSpPr>
        <p:spPr>
          <a:xfrm>
            <a:off x="4564469" y="4078635"/>
            <a:ext cx="0" cy="4660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98DDDA06-0D36-EC11-72B5-546946AA3412}"/>
              </a:ext>
            </a:extLst>
          </p:cNvPr>
          <p:cNvSpPr/>
          <p:nvPr/>
        </p:nvSpPr>
        <p:spPr>
          <a:xfrm>
            <a:off x="1366684" y="5476887"/>
            <a:ext cx="6410632" cy="4957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Compare actual and predicted values</a:t>
            </a:r>
            <a:endParaRPr lang="en-US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0DAAD4-5BBD-961B-6C17-3DB5B16EE3D6}"/>
              </a:ext>
            </a:extLst>
          </p:cNvPr>
          <p:cNvCxnSpPr>
            <a:cxnSpLocks/>
          </p:cNvCxnSpPr>
          <p:nvPr/>
        </p:nvCxnSpPr>
        <p:spPr>
          <a:xfrm>
            <a:off x="4564469" y="5010803"/>
            <a:ext cx="0" cy="4660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71AFC4C-7790-E1EC-63BD-19A5BA633983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63624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0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Pipeline​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61C32-DF0B-BBFF-E92B-50F09020E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6048"/>
            <a:ext cx="8546841" cy="42355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Generation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 Selection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ML Algorithm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ML Algorithm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and Validation</a:t>
            </a:r>
          </a:p>
          <a:p>
            <a:pPr marL="0" lv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105D1-EE59-0ED3-237C-ADE6C3FBD5D7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703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0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Generation​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61C32-DF0B-BBFF-E92B-50F09020E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596048"/>
            <a:ext cx="8276950" cy="64215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14 Bus system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68532D-3E69-4743-46E0-F309C0712785}"/>
              </a:ext>
            </a:extLst>
          </p:cNvPr>
          <p:cNvSpPr txBox="1">
            <a:spLocks/>
          </p:cNvSpPr>
          <p:nvPr/>
        </p:nvSpPr>
        <p:spPr>
          <a:xfrm>
            <a:off x="609599" y="2168326"/>
            <a:ext cx="8276950" cy="64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to PSAF, load flow Analysis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63C7F0-1BB8-CD35-0C7B-608CF9F9F2A4}"/>
              </a:ext>
            </a:extLst>
          </p:cNvPr>
          <p:cNvSpPr txBox="1">
            <a:spLocks/>
          </p:cNvSpPr>
          <p:nvPr/>
        </p:nvSpPr>
        <p:spPr>
          <a:xfrm>
            <a:off x="609599" y="2761229"/>
            <a:ext cx="8276950" cy="64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Took the values of Voltage and angle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49E70A-E6C0-A89D-3934-5572394FFB37}"/>
              </a:ext>
            </a:extLst>
          </p:cNvPr>
          <p:cNvSpPr txBox="1">
            <a:spLocks/>
          </p:cNvSpPr>
          <p:nvPr/>
        </p:nvSpPr>
        <p:spPr>
          <a:xfrm>
            <a:off x="609599" y="3344801"/>
            <a:ext cx="8276950" cy="64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 Q, Z, X, δ, </a:t>
            </a:r>
            <a:r>
              <a:rPr lang="en-US" sz="2400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δc</a:t>
            </a:r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to MS EXCEL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531EFD-455E-960F-E432-A93FC7B039D1}"/>
              </a:ext>
            </a:extLst>
          </p:cNvPr>
          <p:cNvSpPr txBox="1">
            <a:spLocks/>
          </p:cNvSpPr>
          <p:nvPr/>
        </p:nvSpPr>
        <p:spPr>
          <a:xfrm>
            <a:off x="609599" y="3965696"/>
            <a:ext cx="8276950" cy="64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Calculating NLSI_1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9813D6-AF7C-6713-B3C3-2D79B2DE71FB}"/>
              </a:ext>
            </a:extLst>
          </p:cNvPr>
          <p:cNvSpPr txBox="1">
            <a:spLocks/>
          </p:cNvSpPr>
          <p:nvPr/>
        </p:nvSpPr>
        <p:spPr>
          <a:xfrm>
            <a:off x="609599" y="4528011"/>
            <a:ext cx="8276950" cy="64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Normalizing NLSI_1</a:t>
            </a:r>
          </a:p>
          <a:p>
            <a:endParaRPr lang="en-S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A9254-35E1-BCA3-2AC9-448622AFDB2C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48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B737-C023-0306-C09C-F36CA995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0"/>
            <a:ext cx="9144000" cy="71534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IEEE 14 Bus system</a:t>
            </a:r>
          </a:p>
        </p:txBody>
      </p:sp>
      <p:pic>
        <p:nvPicPr>
          <p:cNvPr id="1026" name="Picture 2" descr="IEEE 14-Bus System - Illinois Center for a Smarter Electric Grid ...">
            <a:extLst>
              <a:ext uri="{FF2B5EF4-FFF2-40B4-BE49-F238E27FC236}">
                <a16:creationId xmlns:a16="http://schemas.microsoft.com/office/drawing/2014/main" id="{041CE825-2F97-A43E-B1A1-B0AA49122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56" y="1324947"/>
            <a:ext cx="6347713" cy="475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8E5034-A336-B738-A57B-98420167CD3F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93590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1789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F9AF6B4-98BF-5DB4-6F4F-9432A3B5A49A}"/>
              </a:ext>
            </a:extLst>
          </p:cNvPr>
          <p:cNvSpPr/>
          <p:nvPr/>
        </p:nvSpPr>
        <p:spPr>
          <a:xfrm>
            <a:off x="1366684" y="1278294"/>
            <a:ext cx="6410632" cy="87846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load Data ( Q, V, Z, X, δ, σ) and Preprocessing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FABE4C-57C9-B809-BD41-C822FF3ADFA2}"/>
              </a:ext>
            </a:extLst>
          </p:cNvPr>
          <p:cNvCxnSpPr>
            <a:cxnSpLocks/>
          </p:cNvCxnSpPr>
          <p:nvPr/>
        </p:nvCxnSpPr>
        <p:spPr>
          <a:xfrm>
            <a:off x="4572000" y="2238257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9CA4B49-CF6C-8C7C-DBE0-AF9F3A089020}"/>
              </a:ext>
            </a:extLst>
          </p:cNvPr>
          <p:cNvSpPr/>
          <p:nvPr/>
        </p:nvSpPr>
        <p:spPr>
          <a:xfrm>
            <a:off x="1366684" y="2611088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Splitting Dataset into test and train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973EE1-4A0A-EBF9-A808-4204F2C66C5A}"/>
              </a:ext>
            </a:extLst>
          </p:cNvPr>
          <p:cNvCxnSpPr>
            <a:cxnSpLocks/>
          </p:cNvCxnSpPr>
          <p:nvPr/>
        </p:nvCxnSpPr>
        <p:spPr>
          <a:xfrm>
            <a:off x="4572000" y="3248572"/>
            <a:ext cx="0" cy="3608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DB765F8-07D4-9550-7B3C-2E6EA3636F3B}"/>
              </a:ext>
            </a:extLst>
          </p:cNvPr>
          <p:cNvSpPr/>
          <p:nvPr/>
        </p:nvSpPr>
        <p:spPr>
          <a:xfrm>
            <a:off x="1366684" y="3625474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Fit polynomial and feature Scaling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086BB1-219A-7450-AA5F-01CA52D77E9F}"/>
              </a:ext>
            </a:extLst>
          </p:cNvPr>
          <p:cNvCxnSpPr>
            <a:cxnSpLocks/>
          </p:cNvCxnSpPr>
          <p:nvPr/>
        </p:nvCxnSpPr>
        <p:spPr>
          <a:xfrm>
            <a:off x="4572000" y="4333609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C85C5869-3C95-00D1-DDD8-0838151BA7D0}"/>
              </a:ext>
            </a:extLst>
          </p:cNvPr>
          <p:cNvSpPr/>
          <p:nvPr/>
        </p:nvSpPr>
        <p:spPr>
          <a:xfrm>
            <a:off x="1366684" y="4701238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Train Models and select the best one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4B54CA-E530-C32C-B6B8-DAC892BF1260}"/>
              </a:ext>
            </a:extLst>
          </p:cNvPr>
          <p:cNvCxnSpPr>
            <a:cxnSpLocks/>
          </p:cNvCxnSpPr>
          <p:nvPr/>
        </p:nvCxnSpPr>
        <p:spPr>
          <a:xfrm>
            <a:off x="4572000" y="5322675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9BAC4988-23A2-BEF5-B8FF-6C952ABB80DA}"/>
              </a:ext>
            </a:extLst>
          </p:cNvPr>
          <p:cNvSpPr/>
          <p:nvPr/>
        </p:nvSpPr>
        <p:spPr>
          <a:xfrm>
            <a:off x="1366684" y="5701532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Make Prediction with the best fitted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4A9D0-D06D-2036-7A02-1D2C9A8EE841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1982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3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64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Finding best ML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7B12A-FF43-4702-33F4-00835E461FA5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8F0E02-C9E1-35A5-6A24-AA2FA3FCB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97621"/>
              </p:ext>
            </p:extLst>
          </p:nvPr>
        </p:nvGraphicFramePr>
        <p:xfrm>
          <a:off x="1371600" y="1012666"/>
          <a:ext cx="6705600" cy="4737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3990">
                  <a:extLst>
                    <a:ext uri="{9D8B030D-6E8A-4147-A177-3AD203B41FA5}">
                      <a16:colId xmlns:a16="http://schemas.microsoft.com/office/drawing/2014/main" val="210661564"/>
                    </a:ext>
                  </a:extLst>
                </a:gridCol>
                <a:gridCol w="3351610">
                  <a:extLst>
                    <a:ext uri="{9D8B030D-6E8A-4147-A177-3AD203B41FA5}">
                      <a16:colId xmlns:a16="http://schemas.microsoft.com/office/drawing/2014/main" val="1285609718"/>
                    </a:ext>
                  </a:extLst>
                </a:gridCol>
              </a:tblGrid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Model Name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R-squared Value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7665172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GradientBoosting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0.9202938198434416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037964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RandomForest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0.915366212247379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3115471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Ridge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0.8058867651342346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043873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Lasso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0.8044845394190461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294598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SVR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-0.09128112568721769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5151372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 err="1">
                          <a:effectLst/>
                        </a:rPr>
                        <a:t>KNeighbors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0.8633362926583045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4809860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62000" algn="l"/>
                        </a:tabLs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Decision Tree</a:t>
                      </a:r>
                      <a:endParaRPr lang="en-US" sz="1100" b="1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62000" algn="l"/>
                        </a:tabLst>
                      </a:pPr>
                      <a:r>
                        <a:rPr lang="en-GB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0.9221138779941593</a:t>
                      </a:r>
                      <a:endParaRPr lang="en-US" sz="1100" b="1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0639570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XGBoost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0.9098069485129625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4717211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MLP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-0.09128110669006895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6314716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AdaBoost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0.8854694806961242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1440450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Bagging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0.9221360021528593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966895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ExtraTrees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0.9204986262914252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0340016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Voting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0.9164003627362303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0713893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LGBM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0.8492909580376518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461671"/>
                  </a:ext>
                </a:extLst>
              </a:tr>
              <a:tr h="2961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CatBoost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0.9116026450350005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502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869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8CA4E0-A25A-153C-8FD1-77D220C4088E}"/>
              </a:ext>
            </a:extLst>
          </p:cNvPr>
          <p:cNvSpPr txBox="1"/>
          <p:nvPr/>
        </p:nvSpPr>
        <p:spPr>
          <a:xfrm>
            <a:off x="0" y="50571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Decision Tree Algorithm in Machine Learning - Javatpoint">
            <a:extLst>
              <a:ext uri="{FF2B5EF4-FFF2-40B4-BE49-F238E27FC236}">
                <a16:creationId xmlns:a16="http://schemas.microsoft.com/office/drawing/2014/main" id="{096A3670-7DEE-6937-582B-933E05180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48" y="1281403"/>
            <a:ext cx="6965303" cy="46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E50B6B-5E1E-4DA9-CEE2-7EB6D1C55606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7831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CD1A-E79C-63F3-76FB-2555A624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8721-AA2C-ADA4-FB69-C2E5D08B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1789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6AE950D4-2693-EB5B-33BD-86387100D14A}"/>
              </a:ext>
            </a:extLst>
          </p:cNvPr>
          <p:cNvSpPr/>
          <p:nvPr/>
        </p:nvSpPr>
        <p:spPr>
          <a:xfrm>
            <a:off x="1366684" y="1285362"/>
            <a:ext cx="6410632" cy="70949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One input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8686BB-C428-3D1B-780F-E025F9EB53DA}"/>
              </a:ext>
            </a:extLst>
          </p:cNvPr>
          <p:cNvCxnSpPr>
            <a:cxnSpLocks/>
          </p:cNvCxnSpPr>
          <p:nvPr/>
        </p:nvCxnSpPr>
        <p:spPr>
          <a:xfrm>
            <a:off x="4572000" y="2238257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3FCA79E-F7CB-3C8C-60D2-A46289DBD859}"/>
              </a:ext>
            </a:extLst>
          </p:cNvPr>
          <p:cNvSpPr/>
          <p:nvPr/>
        </p:nvSpPr>
        <p:spPr>
          <a:xfrm>
            <a:off x="1366684" y="2611088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Entropy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7A0297-903B-621D-C948-67C01F424E75}"/>
              </a:ext>
            </a:extLst>
          </p:cNvPr>
          <p:cNvCxnSpPr>
            <a:cxnSpLocks/>
          </p:cNvCxnSpPr>
          <p:nvPr/>
        </p:nvCxnSpPr>
        <p:spPr>
          <a:xfrm>
            <a:off x="4572000" y="3248572"/>
            <a:ext cx="0" cy="3608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CCEFCB5-3118-5BB7-799F-20192B3E4BC4}"/>
              </a:ext>
            </a:extLst>
          </p:cNvPr>
          <p:cNvSpPr/>
          <p:nvPr/>
        </p:nvSpPr>
        <p:spPr>
          <a:xfrm>
            <a:off x="1366684" y="3625474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Information Gap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FE7FDB-D40C-2F4F-4BD2-283A3889BF90}"/>
              </a:ext>
            </a:extLst>
          </p:cNvPr>
          <p:cNvCxnSpPr>
            <a:cxnSpLocks/>
          </p:cNvCxnSpPr>
          <p:nvPr/>
        </p:nvCxnSpPr>
        <p:spPr>
          <a:xfrm>
            <a:off x="4572000" y="4333609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1D2AD67A-FE4B-E4D7-5F4A-F0CFD08D421B}"/>
              </a:ext>
            </a:extLst>
          </p:cNvPr>
          <p:cNvSpPr/>
          <p:nvPr/>
        </p:nvSpPr>
        <p:spPr>
          <a:xfrm>
            <a:off x="1366684" y="4701238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Root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81F21A-9734-B79E-31B0-F0906CE66315}"/>
              </a:ext>
            </a:extLst>
          </p:cNvPr>
          <p:cNvCxnSpPr>
            <a:cxnSpLocks/>
          </p:cNvCxnSpPr>
          <p:nvPr/>
        </p:nvCxnSpPr>
        <p:spPr>
          <a:xfrm>
            <a:off x="4572000" y="5322675"/>
            <a:ext cx="0" cy="3728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5C5605F7-B4F8-4B9B-705F-BEE84F36C331}"/>
              </a:ext>
            </a:extLst>
          </p:cNvPr>
          <p:cNvSpPr/>
          <p:nvPr/>
        </p:nvSpPr>
        <p:spPr>
          <a:xfrm>
            <a:off x="1366684" y="5701532"/>
            <a:ext cx="6410632" cy="62143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Decision Lode and Leaf node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237F1-37E3-0B5A-4435-F6D928AE7153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9732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3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70252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BC768-E4A3-B261-C970-E1A1109E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28" y="1112404"/>
            <a:ext cx="7325747" cy="3886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9744EB-4832-DDAE-703A-84B5F7CCB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981" y="4999147"/>
            <a:ext cx="6937593" cy="9817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6A9636-F472-CDC7-6AC3-3AC7E1AA5984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00352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33382F-C98D-DC09-47DF-2839C0EE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40" y="571101"/>
            <a:ext cx="7992590" cy="57157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489AC7-5ACA-6298-C39D-9E3921B5090B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93408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9FCD74-0CE0-A5BF-6A02-B69B8D497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72" y="1652951"/>
            <a:ext cx="7502455" cy="43152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EBEE79-35C3-BD3E-2FEB-199F1C71CA56}"/>
              </a:ext>
            </a:extLst>
          </p:cNvPr>
          <p:cNvSpPr txBox="1"/>
          <p:nvPr/>
        </p:nvSpPr>
        <p:spPr>
          <a:xfrm>
            <a:off x="998376" y="162099"/>
            <a:ext cx="6354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Continued&gt;&gt;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C2FCF-03C3-6505-0F05-90437DA78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950" y="747882"/>
            <a:ext cx="6256005" cy="905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B3E28D-C545-443A-64DB-2106C9B5CC15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08603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3F8003-3B28-D242-5E07-4648A79C2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95" y="906967"/>
            <a:ext cx="8718010" cy="4641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852864-A54A-F655-1AD7-106385A35F66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036B3-A3FA-B713-7E73-915C1291F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54" y="2584173"/>
            <a:ext cx="258036" cy="2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52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0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Prospect​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C0E3DA-AA17-B10A-00D8-13DB5AF79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49" y="1538185"/>
            <a:ext cx="7654211" cy="365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Grids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of Predictive Accuracy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Capabilities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Evolving Power Systems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with Industry Standards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703B117-1828-A4B8-EBF1-182601BD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90F5F-135E-B0C4-24CF-E72AA6231FB0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631817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D1BC-9C02-698E-C46F-450B82D9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5297-0514-5343-9572-91EA272B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94" y="919147"/>
            <a:ext cx="5857104" cy="774357"/>
          </a:xfrm>
        </p:spPr>
        <p:txBody>
          <a:bodyPr/>
          <a:lstStyle/>
          <a:p>
            <a:pPr algn="ctr"/>
            <a:r>
              <a:rPr lang="en-SG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Outcomes(PO)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B4CAA0-A0AB-675F-C860-97845734B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476821"/>
              </p:ext>
            </p:extLst>
          </p:nvPr>
        </p:nvGraphicFramePr>
        <p:xfrm>
          <a:off x="353086" y="812409"/>
          <a:ext cx="821621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4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Corresponding</a:t>
                      </a:r>
                      <a:r>
                        <a:rPr lang="en-US" baseline="0"/>
                        <a:t> PO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9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374151"/>
                          </a:solidFill>
                          <a:latin typeface="Söhne"/>
                        </a:rPr>
                        <a:t>Risk of Voltage Collapse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/>
                        <a:t>PO(a)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Investigate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23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Using </a:t>
                      </a:r>
                      <a:r>
                        <a:rPr lang="en-US" baseline="0"/>
                        <a:t>PSAF 2.81, MS EXCEL, </a:t>
                      </a:r>
                      <a:r>
                        <a:rPr lang="en-US"/>
                        <a:t>Python and </a:t>
                      </a:r>
                      <a:r>
                        <a:rPr lang="en-US" err="1"/>
                        <a:t>Jupyter</a:t>
                      </a:r>
                      <a:r>
                        <a:rPr lang="en-US"/>
                        <a:t>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/>
                        <a:t>PO(e), PO(c)</a:t>
                      </a:r>
                      <a:endParaRPr lang="en-US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 of power system analysis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97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800" dirty="0">
                          <a:latin typeface="+mn-lt"/>
                          <a:cs typeface="Times New Roman" panose="02020603050405020304" pitchFamily="18" charset="0"/>
                        </a:rPr>
                        <a:t>Distribution of work among team members and helping each other out in every problems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800">
                          <a:latin typeface="+mn-lt"/>
                          <a:cs typeface="Times New Roman" panose="02020603050405020304" pitchFamily="18" charset="0"/>
                        </a:rPr>
                        <a:t>PO(</a:t>
                      </a:r>
                      <a:r>
                        <a:rPr lang="en-SG" sz="1800" err="1">
                          <a:latin typeface="+mn-lt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SG" sz="1800">
                          <a:latin typeface="+mn-lt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800">
                          <a:latin typeface="+mn-lt"/>
                          <a:cs typeface="Times New Roman" panose="02020603050405020304" pitchFamily="18" charset="0"/>
                        </a:rPr>
                        <a:t>Individual work and teamwork</a:t>
                      </a:r>
                    </a:p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23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Cost</a:t>
                      </a:r>
                      <a:r>
                        <a:rPr lang="en-US" baseline="0"/>
                        <a:t> analysis, project presentation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800">
                          <a:latin typeface="+mn-lt"/>
                          <a:cs typeface="Times New Roman" panose="02020603050405020304" pitchFamily="18" charset="0"/>
                        </a:rPr>
                        <a:t>PO(k), PO(j)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80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Demonstrate,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Communication</a:t>
                      </a:r>
                    </a:p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447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374151"/>
                        </a:solidFill>
                        <a:latin typeface="Söhne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A5E736E-03E3-DCF4-57E1-3F9DFD822ABF}"/>
              </a:ext>
            </a:extLst>
          </p:cNvPr>
          <p:cNvSpPr txBox="1"/>
          <p:nvPr/>
        </p:nvSpPr>
        <p:spPr>
          <a:xfrm>
            <a:off x="0" y="197706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Outcomes(PO)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19C8F-B849-BFD0-05F9-FABB50DC5731}"/>
              </a:ext>
            </a:extLst>
          </p:cNvPr>
          <p:cNvSpPr txBox="1"/>
          <p:nvPr/>
        </p:nvSpPr>
        <p:spPr>
          <a:xfrm>
            <a:off x="8587407" y="6260184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5487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EF6-A782-FE49-C325-D7D44451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0"/>
            <a:ext cx="9144000" cy="642151"/>
          </a:xfrm>
        </p:spPr>
        <p:txBody>
          <a:bodyPr>
            <a:normAutofit/>
          </a:bodyPr>
          <a:lstStyle/>
          <a:p>
            <a:pPr algn="ctr"/>
            <a:r>
              <a:rPr lang="en-SG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61C32-DF0B-BBFF-E92B-50F09020E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596047"/>
            <a:ext cx="8276950" cy="1006257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Shakerighadi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B.;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Aminifar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F.;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Afsharnia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Power systems wide-area voltage stability assessment considering dissimilar load variations and credible contingencies.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Mod. Power Syst. Clean Energy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78–87. 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Ibrahim, M.H.; Jasim, A.H. Voltage Collapse Prediction of IEEE 30-Bus system.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Tikrit J. Eng. Sci.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98–112. </a:t>
            </a:r>
          </a:p>
          <a:p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Mokred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S.; Wang, Y.; Chen, T. A novel collapse prediction index for voltage stability analysis and contingency ranking in power systems.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Prot. Control. Mod. Power Syst.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7. 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Samuel, I.A.; Katende, J.;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Awosope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C.O.;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Awelewa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A.A.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Awosope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Claudius Prediction of Voltage Collapse in Electrical Power System Networks using a New Voltage Stability Index.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Appl. Eng. Res.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190–199. 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Isaac, S.; Adebola, S.;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Ayokunle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A.; Katende, J.; Claudius, A.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Awosope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Claudius Voltage collapse prediction using artificial neural network.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</a:t>
            </a:r>
            <a:r>
              <a:rPr lang="en-US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124–132.</a:t>
            </a:r>
          </a:p>
          <a:p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858C8-F3F3-28AF-35FB-F9B400C86B57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73668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4E50-DCFF-0825-DCBF-1B76D2F6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47" y="1722847"/>
            <a:ext cx="6099846" cy="142814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80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SG" sz="8000" b="1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0E3EC-6134-CBCA-0733-83505033BF43}"/>
              </a:ext>
            </a:extLst>
          </p:cNvPr>
          <p:cNvSpPr txBox="1"/>
          <p:nvPr/>
        </p:nvSpPr>
        <p:spPr>
          <a:xfrm>
            <a:off x="5264459" y="4421079"/>
            <a:ext cx="3275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Query?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D3C70-1200-24B2-198F-2C1B52878447}"/>
              </a:ext>
            </a:extLst>
          </p:cNvPr>
          <p:cNvSpPr txBox="1"/>
          <p:nvPr/>
        </p:nvSpPr>
        <p:spPr>
          <a:xfrm>
            <a:off x="8398565" y="6162261"/>
            <a:ext cx="556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22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68047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</TotalTime>
  <Words>747</Words>
  <Application>Microsoft Office PowerPoint</Application>
  <PresentationFormat>On-screen Show (4:3)</PresentationFormat>
  <Paragraphs>175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Söhne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Overview </vt:lpstr>
      <vt:lpstr>Introduction</vt:lpstr>
      <vt:lpstr>Motivation</vt:lpstr>
      <vt:lpstr>PowerPoint Presentation</vt:lpstr>
      <vt:lpstr>PowerPoint Presentation</vt:lpstr>
      <vt:lpstr>Working Pipeline​</vt:lpstr>
      <vt:lpstr>Data Generation​ </vt:lpstr>
      <vt:lpstr>IEEE 14 Bus system</vt:lpstr>
      <vt:lpstr>Demonstration</vt:lpstr>
      <vt:lpstr>Finding best ML model</vt:lpstr>
      <vt:lpstr>PowerPoint Presentation</vt:lpstr>
      <vt:lpstr>Decision Tree Algorithm</vt:lpstr>
      <vt:lpstr>Results</vt:lpstr>
      <vt:lpstr>PowerPoint Presentation</vt:lpstr>
      <vt:lpstr>PowerPoint Presentation</vt:lpstr>
      <vt:lpstr>PowerPoint Presentation</vt:lpstr>
      <vt:lpstr>Future Prospect​</vt:lpstr>
      <vt:lpstr>Program Outcomes(PO)</vt:lpstr>
      <vt:lpstr>References​</vt:lpstr>
      <vt:lpstr>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Abdullah Al Zaber</dc:creator>
  <cp:lastModifiedBy>2006068 - Ilias Ahmad</cp:lastModifiedBy>
  <cp:revision>33</cp:revision>
  <dcterms:created xsi:type="dcterms:W3CDTF">2024-01-06T09:27:35Z</dcterms:created>
  <dcterms:modified xsi:type="dcterms:W3CDTF">2024-02-25T08:17:55Z</dcterms:modified>
</cp:coreProperties>
</file>